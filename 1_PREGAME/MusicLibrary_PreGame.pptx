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5" r:id="rId12"/>
  </p:sldIdLst>
  <p:sldSz cx="9144000" cy="5143500" type="screen16x9"/>
  <p:notesSz cx="51435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497"/>
    <p:restoredTop sz="94610"/>
  </p:normalViewPr>
  <p:slideViewPr>
    <p:cSldViewPr snapToGrid="0" snapToObjects="1">
      <p:cViewPr>
        <p:scale>
          <a:sx n="150" d="100"/>
          <a:sy n="150" d="100"/>
        </p:scale>
        <p:origin x="648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6638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Presentazione pre-game Music Library. 5 minuti.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Descrivere le 6 funzionalità principali.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Versioni verificate dalla macchina di sviluppo. App di test avviata con successo.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JavaFX supporta MVC via FXML. Il Repository è separato per il Dependency Inversion Principle.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Observer: evita polling. Strategy: Open/Closed. Command: Undo. Facade: riduce accoppiamento.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diagramma mostra tutti i layer e i 4 pattern. Cluster colorati delimitano View, Controller, Model,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wireframe sono stati progettati dagli Acceptance Criteria di ogni User Story. Stile grayscale.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34 Story Points totali in 3 sprint. Epic H1 completa + modalità Sequential e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DoD distingue tra test JUnit (logica di business) e test manuali (UI). I Checkpoint intermedi garantiscono che il codice compili e almeno un test passi anche a metà 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Coding Conventions: nomenclatura Java standard, formattazione K&amp;R, ordine fisso dei membri, Javadoc obbligatorio su interfacce e metodi pubblici.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Invitare domande.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B43A38C-F1DB-8391-FF45-675C31A853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26A5B79-0BA2-B0F2-5C52-E56E505832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01E22C4-D7AF-45AA-37AB-F1CC03BB7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BE447-7EBB-EA4E-BEF4-3D4E7053B1D3}" type="datetimeFigureOut">
              <a:rPr lang="it-IT" smtClean="0"/>
              <a:t>16/06/26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1FF571C-0010-BB9A-E523-F45B719FA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1910997-4527-8326-F1EB-DA0C4EC19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4FB1E-B549-E24E-A4CB-14A619A9736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8973822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97F2743-C89F-793D-5177-F12B2B634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A23A084-64A0-AED5-4D0F-889466E663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AE0A930-C76A-BDD6-4EA4-D35EB2B8D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BE447-7EBB-EA4E-BEF4-3D4E7053B1D3}" type="datetimeFigureOut">
              <a:rPr lang="it-IT" smtClean="0"/>
              <a:t>16/06/26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7B3735D-948F-9D17-367F-DC9FFC94A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3DAA8AD-CBCD-051F-5BAF-4F1BEC719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4FB1E-B549-E24E-A4CB-14A619A9736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0374573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0BA98B9-7196-9D27-346C-83922129D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46C9D91-C93E-1714-03E1-7A6F56D16A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BF0D067-55D8-94EA-0A4E-0587F6F4F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BE447-7EBB-EA4E-BEF4-3D4E7053B1D3}" type="datetimeFigureOut">
              <a:rPr lang="it-IT" smtClean="0"/>
              <a:t>16/06/26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5E19200-215E-274C-513E-73EFE6BA8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4E4DA71-648E-C8CB-C0D3-E493298F2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4FB1E-B549-E24E-A4CB-14A619A9736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6538890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BC78A7-A1DD-D944-DF89-5775D272F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87D400E-7713-73B6-8FA9-C9FE2944B6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5C47B7C-71CD-A10B-807F-7B9FF52474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F2E7406-C936-8A73-1AA6-807F844CB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BE447-7EBB-EA4E-BEF4-3D4E7053B1D3}" type="datetimeFigureOut">
              <a:rPr lang="it-IT" smtClean="0"/>
              <a:t>16/06/26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48DB15B-AFD0-0FEB-4CD2-C244581DA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49E20CF-9DB9-C5DC-3B1C-186356CC6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4FB1E-B549-E24E-A4CB-14A619A9736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779772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BE32C22-D1B9-4226-ECC4-5773C9CA6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9D28F03-E95E-D183-557B-60A25817FD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83089A1-C948-21B6-0ADC-0177E63BC0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89D724DE-3AAB-D5EA-241B-2E67AD1A8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6721D2A8-BE1A-A639-25BF-19FF111B61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A682AD63-5217-289C-03E2-3D99DBBE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BE447-7EBB-EA4E-BEF4-3D4E7053B1D3}" type="datetimeFigureOut">
              <a:rPr lang="it-IT" smtClean="0"/>
              <a:t>16/06/26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68B5F5A3-AEDB-D84D-4DDF-F43AE29FC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7FA00467-2AE2-4E1E-2429-5FF20D681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4FB1E-B549-E24E-A4CB-14A619A9736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1843870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DE63A5-75D3-BA87-5C6C-9ACF62AAE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F7BF50C2-80F5-5D6C-2C77-49390493C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BE447-7EBB-EA4E-BEF4-3D4E7053B1D3}" type="datetimeFigureOut">
              <a:rPr lang="it-IT" smtClean="0"/>
              <a:t>16/06/26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78CC183-158D-09DA-99B5-7DFBAD068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DA38418-1B80-D78D-16C6-4E86221D3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4FB1E-B549-E24E-A4CB-14A619A9736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408159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BF06EAB7-3EE9-CBFD-8C03-B84588C8C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BE447-7EBB-EA4E-BEF4-3D4E7053B1D3}" type="datetimeFigureOut">
              <a:rPr lang="it-IT" smtClean="0"/>
              <a:t>16/06/26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76EE20C9-9C4E-6C1B-40E1-B724AE1A2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6551EB8-701A-DBD8-642E-E75B8378F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4FB1E-B549-E24E-A4CB-14A619A9736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4436498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2E72B49-C76C-4974-B61D-A8D3CFB7C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1E81AD7-768E-97AE-4FDA-24C725D294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81AB131-3274-889F-DCBB-CCA9BF5EBF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AF441D7-79F8-BE64-1D86-45D589E75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BE447-7EBB-EA4E-BEF4-3D4E7053B1D3}" type="datetimeFigureOut">
              <a:rPr lang="it-IT" smtClean="0"/>
              <a:t>16/06/26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0181802-9B14-F670-75D7-9C6977622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8911B56-226D-A49C-F42F-CBE15D1BD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4FB1E-B549-E24E-A4CB-14A619A9736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1833749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629803-7CF4-03A0-7B96-E737FD2C7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0F38E5DC-E34E-0252-43A4-3897B5BC2D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62FD338-459C-005F-5C6A-6D4C844A89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DDB6D3C-C56A-B6D5-7113-66EDAAEFE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BE447-7EBB-EA4E-BEF4-3D4E7053B1D3}" type="datetimeFigureOut">
              <a:rPr lang="it-IT" smtClean="0"/>
              <a:t>16/06/26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A98C547-4A7A-131D-2CF1-09D56BA4F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CFCD894-E05F-E027-0947-5441A9B7A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4FB1E-B549-E24E-A4CB-14A619A9736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9038999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1DE6B7F-D4D6-BC20-D29D-6A883B2A1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5E47B60-303B-50CF-B89A-DA9CFE9DA1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4488E67-2371-BA77-36D6-A93F7D002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BE447-7EBB-EA4E-BEF4-3D4E7053B1D3}" type="datetimeFigureOut">
              <a:rPr lang="it-IT" smtClean="0"/>
              <a:t>16/06/26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1ABA718-A725-13E3-D89C-6CF17E6CD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13E13B8-0034-DC18-A6C8-8F7714EBB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4FB1E-B549-E24E-A4CB-14A619A9736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7597782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0B9E1DE1-5FF0-F995-D40B-9DD4C2D4F6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6873B35-FEA5-D26D-E144-C8A371B597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A720E86-5908-8CAA-4858-FA97A36D5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BE447-7EBB-EA4E-BEF4-3D4E7053B1D3}" type="datetimeFigureOut">
              <a:rPr lang="it-IT" smtClean="0"/>
              <a:t>16/06/26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6704F6F-6C9E-6D95-882D-AC9378CE9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64C3815-191D-86F8-5581-897BEDCAA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4FB1E-B549-E24E-A4CB-14A619A9736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7985964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201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0E0041FB-28C6-5EF8-2BAD-08E7D1952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4564423-56AC-799C-1FFB-152CE5163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A949FEF-EEE4-BE9A-25D5-ACF19D2E10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DBE447-7EBB-EA4E-BEF4-3D4E7053B1D3}" type="datetimeFigureOut">
              <a:rPr lang="it-IT" smtClean="0"/>
              <a:t>16/06/26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872DD51-1D68-8344-3B69-584C3E17DD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F29BDC8-09E9-E67C-D161-C4723A3509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24FB1E-B549-E24E-A4CB-14A619A9736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59288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unisalerno-my.sharepoint.com/:x:/g/personal/v_schiro_studenti_unisa_it/IQDIYXlGenepQrjHqZUlgGPdAQ7iz2ZGRn46Oq0JddvXTkg?e=gUjhOI" TargetMode="External"/><Relationship Id="rId4" Type="http://schemas.openxmlformats.org/officeDocument/2006/relationships/hyperlink" Target="https://trello.com/invite/b/6a2ff6b7a12185a957b4cd80/ATTIadec8b6ac10c98bebb1225d00c61f6f5ACEDC717/music-library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114800" cy="4114800"/>
          </a:xfrm>
          <a:prstGeom prst="ellipse">
            <a:avLst/>
          </a:prstGeom>
          <a:solidFill>
            <a:srgbClr val="1A3A5C">
              <a:alpha val="70000"/>
            </a:srgbClr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858000" y="-548640"/>
            <a:ext cx="2560320" cy="2560320"/>
          </a:xfrm>
          <a:prstGeom prst="ellipse">
            <a:avLst/>
          </a:prstGeom>
          <a:solidFill>
            <a:srgbClr val="2C5F8A">
              <a:alpha val="60000"/>
            </a:srgbClr>
          </a:solidFill>
          <a:ln w="1270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77724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858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Library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502920" y="15544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502920" y="2450592"/>
            <a:ext cx="50292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502920" y="257860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Pre-Game Presentation  |  16 Giugno 2026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02920" y="3246120"/>
            <a:ext cx="2560320" cy="960120"/>
          </a:xfrm>
          <a:prstGeom prst="roundRect">
            <a:avLst>
              <a:gd name="adj" fmla="val 9524"/>
            </a:avLst>
          </a:prstGeom>
          <a:solidFill>
            <a:srgbClr val="1A3A5C"/>
          </a:solidFill>
          <a:ln w="635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10" name="Text 7"/>
          <p:cNvSpPr/>
          <p:nvPr/>
        </p:nvSpPr>
        <p:spPr>
          <a:xfrm>
            <a:off x="640080" y="33192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0080" y="35661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Schirò Valentina Carmen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291840" y="3246120"/>
            <a:ext cx="2560320" cy="960120"/>
          </a:xfrm>
          <a:prstGeom prst="roundRect">
            <a:avLst>
              <a:gd name="adj" fmla="val 9524"/>
            </a:avLst>
          </a:prstGeom>
          <a:solidFill>
            <a:srgbClr val="1A3A5C"/>
          </a:solidFill>
          <a:ln w="635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3429000" y="33192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Corso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429000" y="35661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Ingegneria del Software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080760" y="3246120"/>
            <a:ext cx="2560320" cy="960120"/>
          </a:xfrm>
          <a:prstGeom prst="roundRect">
            <a:avLst>
              <a:gd name="adj" fmla="val 9524"/>
            </a:avLst>
          </a:prstGeom>
          <a:solidFill>
            <a:srgbClr val="1A3A5C"/>
          </a:solidFill>
          <a:ln w="635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/>
          <p:nvPr/>
        </p:nvSpPr>
        <p:spPr>
          <a:xfrm>
            <a:off x="6217920" y="33192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217920" y="35661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L'Applicazione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Library è un'applicazione desktop per la gestione di una libreria musicale personale con riproduzione integrata.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2743200" cy="1133856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6350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984248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8562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 Brani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51560" y="2148840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Crea, modifica ed elimina brani con titolo, artista, anno, durata e genere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355848" y="1691640"/>
            <a:ext cx="2743200" cy="1133856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6350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3008" y="1984248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950208" y="18562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Playlist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950208" y="2148840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playlist, aggiungi/rimuovi brani e riorganizzali con drag-and-drop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6254496" y="1691640"/>
            <a:ext cx="2743200" cy="1133856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6350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656" y="1984248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848856" y="18562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Riproduzione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848856" y="2148840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Singola o sequenziale con controlli play, pause, skip e skipPrevious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457200" y="2953512"/>
            <a:ext cx="2743200" cy="1133856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6350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246120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51560" y="311810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Modalità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1051560" y="3410712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modalità di riproduzione: Sequential, Shuffle e Loop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3355848" y="2953512"/>
            <a:ext cx="2743200" cy="1133856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6350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3008" y="3246120"/>
            <a:ext cx="347472" cy="34747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950208" y="311810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/ Redo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3950208" y="3410712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Annulla e ripristina aggiunta/rimozione brani nelle playlist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6254496" y="2953512"/>
            <a:ext cx="2743200" cy="1133856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6350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1656" y="3246120"/>
            <a:ext cx="347472" cy="34747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848856" y="311810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visivi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6848856" y="3410712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Contrassegna i brani come Preferito, Esplicito o Nuova Uscita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Tecnologico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Tecnologie verificate e configurate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334347"/>
            <a:ext cx="2651760" cy="1298448"/>
          </a:xfrm>
          <a:prstGeom prst="roundRect">
            <a:avLst>
              <a:gd name="adj" fmla="val 7042"/>
            </a:avLst>
          </a:prstGeom>
          <a:solidFill>
            <a:srgbClr val="1F4E79"/>
          </a:solidFill>
          <a:ln w="635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691640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15568" y="147218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15568" y="174650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21.0.1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15568" y="200253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200400" y="1325880"/>
            <a:ext cx="2651760" cy="1298448"/>
          </a:xfrm>
          <a:prstGeom prst="roundRect">
            <a:avLst>
              <a:gd name="adj" fmla="val 7042"/>
            </a:avLst>
          </a:prstGeom>
          <a:solidFill>
            <a:srgbClr val="1F4E79"/>
          </a:solidFill>
          <a:ln w="635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1691640"/>
            <a:ext cx="438912" cy="4389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950208" y="147218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JavaFX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950208" y="174650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21.0.2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950208" y="200253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UI</a:t>
            </a:r>
          </a:p>
        </p:txBody>
      </p:sp>
      <p:sp>
        <p:nvSpPr>
          <p:cNvPr id="14" name="Shape 10"/>
          <p:cNvSpPr/>
          <p:nvPr/>
        </p:nvSpPr>
        <p:spPr>
          <a:xfrm>
            <a:off x="6035040" y="1325880"/>
            <a:ext cx="2651760" cy="1298448"/>
          </a:xfrm>
          <a:prstGeom prst="roundRect">
            <a:avLst>
              <a:gd name="adj" fmla="val 7042"/>
            </a:avLst>
          </a:prstGeom>
          <a:solidFill>
            <a:srgbClr val="1F4E79"/>
          </a:solidFill>
          <a:ln w="635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632" y="1691640"/>
            <a:ext cx="438912" cy="43891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784848" y="147218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Builder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784848" y="174650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21.0.0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784848" y="200253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visuale drag-and-drop FXML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365760" y="2788920"/>
            <a:ext cx="2651760" cy="1298448"/>
          </a:xfrm>
          <a:prstGeom prst="roundRect">
            <a:avLst>
              <a:gd name="adj" fmla="val 7042"/>
            </a:avLst>
          </a:prstGeom>
          <a:solidFill>
            <a:srgbClr val="1F4E79"/>
          </a:solidFill>
          <a:ln w="635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" y="3154680"/>
            <a:ext cx="438912" cy="43891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15568" y="293522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IDEA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1115568" y="320954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2026.1.3 Ult.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1115568" y="346557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principale con supporto JavaFX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3200400" y="2788920"/>
            <a:ext cx="2651760" cy="1298448"/>
          </a:xfrm>
          <a:prstGeom prst="roundRect">
            <a:avLst>
              <a:gd name="adj" fmla="val 7042"/>
            </a:avLst>
          </a:prstGeom>
          <a:solidFill>
            <a:srgbClr val="1F4E79"/>
          </a:solidFill>
          <a:ln w="635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4992" y="3154680"/>
            <a:ext cx="438912" cy="43891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950208" y="293522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3950208" y="320954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5.10.2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3950208" y="346557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6035040" y="2788920"/>
            <a:ext cx="2651760" cy="1298448"/>
          </a:xfrm>
          <a:prstGeom prst="roundRect">
            <a:avLst>
              <a:gd name="adj" fmla="val 7042"/>
            </a:avLst>
          </a:prstGeom>
          <a:solidFill>
            <a:srgbClr val="1F4E79"/>
          </a:solidFill>
          <a:ln w="635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9632" y="3154680"/>
            <a:ext cx="438912" cy="43891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784848" y="293522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6784848" y="320954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3.x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6784848" y="346557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tool e gestione dipendenze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 del Sistema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Model-View-Controller con 4 Design Pattern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2743200" cy="2331720"/>
          </a:xfrm>
          <a:prstGeom prst="roundRect">
            <a:avLst>
              <a:gd name="adj" fmla="val 3922"/>
            </a:avLst>
          </a:prstGeom>
          <a:solidFill>
            <a:srgbClr val="E8A020"/>
          </a:solidFill>
          <a:ln w="635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48640" y="135331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219456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48640" y="1883664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MediaPlayerView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HomePageView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(FXML + Scene Builder)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234440"/>
            <a:ext cx="2743200" cy="2331720"/>
          </a:xfrm>
          <a:prstGeom prst="roundRect">
            <a:avLst>
              <a:gd name="adj" fmla="val 3922"/>
            </a:avLst>
          </a:prstGeom>
          <a:solidFill>
            <a:srgbClr val="2C5F8A"/>
          </a:solidFill>
          <a:ln w="635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3383280" y="135331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520440" y="1783080"/>
            <a:ext cx="219456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3383280" y="1883664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MusicLibraryFacade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PlayerService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FilterService · UndoManager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1234440"/>
            <a:ext cx="2743200" cy="2331720"/>
          </a:xfrm>
          <a:prstGeom prst="roundRect">
            <a:avLst>
              <a:gd name="adj" fmla="val 3922"/>
            </a:avLst>
          </a:prstGeom>
          <a:solidFill>
            <a:srgbClr val="1A3A5C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6217920" y="135331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55080" y="1783080"/>
            <a:ext cx="219456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6217920" y="1883664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· Playlist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PlaybackState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· PlaybackStatus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807208" y="228600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641848" y="228600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243892" y="39502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84048" y="960120"/>
            <a:ext cx="1965960" cy="3611880"/>
          </a:xfrm>
          <a:prstGeom prst="roundRect">
            <a:avLst>
              <a:gd name="adj" fmla="val 4651"/>
            </a:avLst>
          </a:prstGeom>
          <a:solidFill>
            <a:srgbClr val="0F6E56"/>
          </a:solidFill>
          <a:ln w="635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078992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5488" y="171907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21208" y="2103120"/>
            <a:ext cx="1691640" cy="0"/>
          </a:xfrm>
          <a:prstGeom prst="line">
            <a:avLst/>
          </a:prstGeom>
          <a:noFill/>
          <a:ln w="635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475488" y="217627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PlaybackState → View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75488" y="2615184"/>
            <a:ext cx="17830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View si aggiornano automaticamente ad ogni cambio di stato del player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514600" y="960120"/>
            <a:ext cx="1965960" cy="3611880"/>
          </a:xfrm>
          <a:prstGeom prst="roundRect">
            <a:avLst>
              <a:gd name="adj" fmla="val 4651"/>
            </a:avLst>
          </a:prstGeom>
          <a:solidFill>
            <a:srgbClr val="854F0B"/>
          </a:solidFill>
          <a:ln w="6350">
            <a:solidFill>
              <a:srgbClr val="854F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2112" y="1078992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06040" y="171907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2651760" y="2103120"/>
            <a:ext cx="1691640" cy="0"/>
          </a:xfrm>
          <a:prstGeom prst="line">
            <a:avLst/>
          </a:prstGeom>
          <a:noFill/>
          <a:ln w="635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9"/>
          <p:cNvSpPr/>
          <p:nvPr/>
        </p:nvSpPr>
        <p:spPr>
          <a:xfrm>
            <a:off x="2606040" y="217627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· Shuffle · Loop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2606040" y="2615184"/>
            <a:ext cx="17830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modalità a runtime senza </a:t>
            </a:r>
            <a:r>
              <a:rPr lang="en-US" sz="9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modificare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PlayerService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645152" y="960120"/>
            <a:ext cx="1965960" cy="3611880"/>
          </a:xfrm>
          <a:prstGeom prst="roundRect">
            <a:avLst>
              <a:gd name="adj" fmla="val 4651"/>
            </a:avLst>
          </a:prstGeom>
          <a:solidFill>
            <a:srgbClr val="533AB7"/>
          </a:solidFill>
          <a:ln w="6350">
            <a:solidFill>
              <a:srgbClr val="533AB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2664" y="1078992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36592" y="171907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4782312" y="2103120"/>
            <a:ext cx="1691640" cy="0"/>
          </a:xfrm>
          <a:prstGeom prst="line">
            <a:avLst/>
          </a:prstGeom>
          <a:noFill/>
          <a:ln w="635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4"/>
          <p:cNvSpPr/>
          <p:nvPr/>
        </p:nvSpPr>
        <p:spPr>
          <a:xfrm>
            <a:off x="4736592" y="217627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· Remove · Move Command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4736592" y="2615184"/>
            <a:ext cx="17830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 le operazioni sulle playlist annullabili tramite UndoManager (Undo/Redo)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6775704" y="960120"/>
            <a:ext cx="1965960" cy="3611880"/>
          </a:xfrm>
          <a:prstGeom prst="roundRect">
            <a:avLst>
              <a:gd name="adj" fmla="val 4651"/>
            </a:avLst>
          </a:prstGeom>
          <a:solidFill>
            <a:srgbClr val="993556"/>
          </a:solidFill>
          <a:ln w="6350">
            <a:solidFill>
              <a:srgbClr val="99355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3216" y="1078992"/>
            <a:ext cx="548640" cy="5486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867144" y="171907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Facade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6912864" y="2103120"/>
            <a:ext cx="1691640" cy="0"/>
          </a:xfrm>
          <a:prstGeom prst="line">
            <a:avLst/>
          </a:prstGeom>
          <a:noFill/>
          <a:ln w="635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19"/>
          <p:cNvSpPr/>
          <p:nvPr/>
        </p:nvSpPr>
        <p:spPr>
          <a:xfrm>
            <a:off x="6867144" y="217627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MusicLibraryFacade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6867144" y="2615184"/>
            <a:ext cx="17830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di accesso unico dalla View: nasconde Repository, UndoManager e FilterService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Class Diagram</a:t>
            </a:r>
            <a:endParaRPr lang="en-US" sz="3000" dirty="0"/>
          </a:p>
        </p:txBody>
      </p:sp>
      <p:pic>
        <p:nvPicPr>
          <p:cNvPr id="3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917770"/>
            <a:ext cx="8503920" cy="38703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</a:t>
            </a: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07555" y="920605"/>
            <a:ext cx="4069080" cy="2057400"/>
          </a:xfrm>
          <a:prstGeom prst="roundRect">
            <a:avLst>
              <a:gd name="adj" fmla="val 4762"/>
            </a:avLst>
          </a:prstGeom>
          <a:solidFill>
            <a:srgbClr val="1F4E79"/>
          </a:solidFill>
          <a:ln w="635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490435" y="984613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 List View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81051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254203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201707" y="960120"/>
            <a:ext cx="3281466" cy="4008530"/>
          </a:xfrm>
          <a:prstGeom prst="roundRect">
            <a:avLst>
              <a:gd name="adj" fmla="val 4762"/>
            </a:avLst>
          </a:prstGeom>
          <a:solidFill>
            <a:srgbClr val="1F4E79"/>
          </a:solidFill>
          <a:ln w="635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9" name="Text 7"/>
          <p:cNvSpPr/>
          <p:nvPr/>
        </p:nvSpPr>
        <p:spPr>
          <a:xfrm>
            <a:off x="5426919" y="1030852"/>
            <a:ext cx="26763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Edit Song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81051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254203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3159252"/>
            <a:ext cx="4069080" cy="1920240"/>
          </a:xfrm>
          <a:prstGeom prst="roundRect">
            <a:avLst>
              <a:gd name="adj" fmla="val 4762"/>
            </a:avLst>
          </a:prstGeom>
          <a:solidFill>
            <a:srgbClr val="1F4E79"/>
          </a:solidFill>
          <a:ln w="635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457200" y="324775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Playlist View</a:t>
            </a:r>
            <a:endParaRPr lang="en-US" sz="1200" dirty="0"/>
          </a:p>
        </p:txBody>
      </p:sp>
      <p:pic>
        <p:nvPicPr>
          <p:cNvPr id="24" name="Immagine 23">
            <a:extLst>
              <a:ext uri="{FF2B5EF4-FFF2-40B4-BE49-F238E27FC236}">
                <a16:creationId xmlns:a16="http://schemas.microsoft.com/office/drawing/2014/main" id="{F5163348-D630-3C3F-C180-9BA5766FF4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9" t="2004" r="771" b="3384"/>
          <a:stretch>
            <a:fillRect/>
          </a:stretch>
        </p:blipFill>
        <p:spPr>
          <a:xfrm>
            <a:off x="502920" y="1277220"/>
            <a:ext cx="3585211" cy="1558399"/>
          </a:xfrm>
          <a:prstGeom prst="rect">
            <a:avLst/>
          </a:prstGeom>
        </p:spPr>
      </p:pic>
      <p:pic>
        <p:nvPicPr>
          <p:cNvPr id="26" name="Immagine 25">
            <a:extLst>
              <a:ext uri="{FF2B5EF4-FFF2-40B4-BE49-F238E27FC236}">
                <a16:creationId xmlns:a16="http://schemas.microsoft.com/office/drawing/2014/main" id="{061E89F9-ABF0-A4F8-C501-AC8B1B21E37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10" t="-1150" r="2176" b="16936"/>
          <a:stretch>
            <a:fillRect/>
          </a:stretch>
        </p:blipFill>
        <p:spPr>
          <a:xfrm>
            <a:off x="5426919" y="1343783"/>
            <a:ext cx="2770722" cy="3347473"/>
          </a:xfrm>
          <a:prstGeom prst="rect">
            <a:avLst/>
          </a:prstGeom>
        </p:spPr>
      </p:pic>
      <p:pic>
        <p:nvPicPr>
          <p:cNvPr id="28" name="Immagine 27">
            <a:extLst>
              <a:ext uri="{FF2B5EF4-FFF2-40B4-BE49-F238E27FC236}">
                <a16:creationId xmlns:a16="http://schemas.microsoft.com/office/drawing/2014/main" id="{1CA75834-AB63-A4FF-8783-7557EF5B6A1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606" t="1292" r="2640" b="42303"/>
          <a:stretch>
            <a:fillRect/>
          </a:stretch>
        </p:blipFill>
        <p:spPr>
          <a:xfrm>
            <a:off x="561125" y="3577590"/>
            <a:ext cx="3706043" cy="1391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magine 29">
            <a:extLst>
              <a:ext uri="{FF2B5EF4-FFF2-40B4-BE49-F238E27FC236}">
                <a16:creationId xmlns:a16="http://schemas.microsoft.com/office/drawing/2014/main" id="{925DE3BE-85E9-67B4-26D2-15A5E64D85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1744" y="824266"/>
            <a:ext cx="1557258" cy="3993502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22860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Backlog — Piano Sprint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47472" y="914400"/>
            <a:ext cx="2697480" cy="3794760"/>
          </a:xfrm>
          <a:prstGeom prst="roundRect">
            <a:avLst>
              <a:gd name="adj" fmla="val 3390"/>
            </a:avLst>
          </a:prstGeom>
          <a:solidFill>
            <a:srgbClr val="1E6B3C"/>
          </a:solidFill>
          <a:ln w="6350">
            <a:solidFill>
              <a:srgbClr val="1E6B3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3533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→ 23 Giu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124712" y="1645920"/>
            <a:ext cx="1115568" cy="310896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1124712" y="1664208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" y="2057400"/>
            <a:ext cx="242316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US-H1.1  Creating a track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US-H1.4  View song list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US-H1.5  Creating a playlist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US-H1.2  Editing a track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US-H1.3  Deleting a track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US-H1.6  Adding tracks to playlist</a:t>
            </a:r>
            <a:endParaRPr lang="en-US" sz="950" dirty="0"/>
          </a:p>
        </p:txBody>
      </p:sp>
      <p:pic>
        <p:nvPicPr>
          <p:cNvPr id="28" name="Immagine 27">
            <a:extLst>
              <a:ext uri="{FF2B5EF4-FFF2-40B4-BE49-F238E27FC236}">
                <a16:creationId xmlns:a16="http://schemas.microsoft.com/office/drawing/2014/main" id="{08B1B426-FF5E-C1E4-016E-751F18B391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830135"/>
            <a:ext cx="1753222" cy="3981764"/>
          </a:xfrm>
          <a:prstGeom prst="rect">
            <a:avLst/>
          </a:prstGeom>
        </p:spPr>
      </p:pic>
      <p:pic>
        <p:nvPicPr>
          <p:cNvPr id="32" name="Immagine 31">
            <a:extLst>
              <a:ext uri="{FF2B5EF4-FFF2-40B4-BE49-F238E27FC236}">
                <a16:creationId xmlns:a16="http://schemas.microsoft.com/office/drawing/2014/main" id="{97384A37-AFC3-2C54-3305-1C82F11C45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2906" y="834716"/>
            <a:ext cx="1636681" cy="3993502"/>
          </a:xfrm>
          <a:prstGeom prst="rect">
            <a:avLst/>
          </a:prstGeom>
        </p:spPr>
      </p:pic>
      <p:pic>
        <p:nvPicPr>
          <p:cNvPr id="34" name="Immagine 33">
            <a:extLst>
              <a:ext uri="{FF2B5EF4-FFF2-40B4-BE49-F238E27FC236}">
                <a16:creationId xmlns:a16="http://schemas.microsoft.com/office/drawing/2014/main" id="{C6B70F4D-AD48-6F24-AF2C-539B0E1A1D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0344" y="824266"/>
            <a:ext cx="1456302" cy="399350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User Story si considera completata quando: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8229600" cy="365760"/>
          </a:xfrm>
          <a:prstGeom prst="roundRect">
            <a:avLst>
              <a:gd name="adj" fmla="val 15000"/>
            </a:avLst>
          </a:prstGeom>
          <a:solidFill>
            <a:srgbClr val="1F4E79"/>
          </a:solidFill>
          <a:ln w="508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566928" y="1362456"/>
            <a:ext cx="292608" cy="274320"/>
          </a:xfrm>
          <a:prstGeom prst="roundRect">
            <a:avLst>
              <a:gd name="adj" fmla="val 13333"/>
            </a:avLst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566928" y="1362456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87552" y="13716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codice compila senza errori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00784"/>
            <a:ext cx="8229600" cy="365760"/>
          </a:xfrm>
          <a:prstGeom prst="roundRect">
            <a:avLst>
              <a:gd name="adj" fmla="val 15000"/>
            </a:avLst>
          </a:prstGeom>
          <a:solidFill>
            <a:srgbClr val="1A3550"/>
          </a:solidFill>
          <a:ln w="508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566928" y="1764792"/>
            <a:ext cx="292608" cy="274320"/>
          </a:xfrm>
          <a:prstGeom prst="roundRect">
            <a:avLst>
              <a:gd name="adj" fmla="val 13333"/>
            </a:avLst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566928" y="1764792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87552" y="177393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Tutti gli Acceptance Criteria della User Story sono soddisfatti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8229600" cy="365760"/>
          </a:xfrm>
          <a:prstGeom prst="roundRect">
            <a:avLst>
              <a:gd name="adj" fmla="val 15000"/>
            </a:avLst>
          </a:prstGeom>
          <a:solidFill>
            <a:srgbClr val="1F4E79"/>
          </a:solidFill>
          <a:ln w="508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566928" y="2167128"/>
            <a:ext cx="292608" cy="274320"/>
          </a:xfrm>
          <a:prstGeom prst="roundRect">
            <a:avLst>
              <a:gd name="adj" fmla="val 13333"/>
            </a:avLst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566928" y="2167128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87552" y="217627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AC relativo alla logica di business ha almeno un test JUnit associato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505456"/>
            <a:ext cx="8229600" cy="365760"/>
          </a:xfrm>
          <a:prstGeom prst="roundRect">
            <a:avLst>
              <a:gd name="adj" fmla="val 15000"/>
            </a:avLst>
          </a:prstGeom>
          <a:solidFill>
            <a:srgbClr val="1A3550"/>
          </a:solidFill>
          <a:ln w="508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566928" y="2569464"/>
            <a:ext cx="292608" cy="274320"/>
          </a:xfrm>
          <a:prstGeom prst="roundRect">
            <a:avLst>
              <a:gd name="adj" fmla="val 13333"/>
            </a:avLst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566928" y="2569464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87552" y="257860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AC relativi alla UI sono verificati manualmente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907792"/>
            <a:ext cx="8229600" cy="365760"/>
          </a:xfrm>
          <a:prstGeom prst="roundRect">
            <a:avLst>
              <a:gd name="adj" fmla="val 15000"/>
            </a:avLst>
          </a:prstGeom>
          <a:solidFill>
            <a:srgbClr val="1F4E79"/>
          </a:solidFill>
          <a:ln w="508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566928" y="2971800"/>
            <a:ext cx="292608" cy="274320"/>
          </a:xfrm>
          <a:prstGeom prst="roundRect">
            <a:avLst>
              <a:gd name="adj" fmla="val 13333"/>
            </a:avLst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566928" y="297180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87552" y="298094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Checkpoint intermedio ha almeno un test JUnit che passa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310128"/>
            <a:ext cx="8229600" cy="365760"/>
          </a:xfrm>
          <a:prstGeom prst="roundRect">
            <a:avLst>
              <a:gd name="adj" fmla="val 15000"/>
            </a:avLst>
          </a:prstGeom>
          <a:solidFill>
            <a:srgbClr val="1A3550"/>
          </a:solidFill>
          <a:ln w="508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Shape 23"/>
          <p:cNvSpPr/>
          <p:nvPr/>
        </p:nvSpPr>
        <p:spPr>
          <a:xfrm>
            <a:off x="566928" y="3374136"/>
            <a:ext cx="292608" cy="274320"/>
          </a:xfrm>
          <a:prstGeom prst="roundRect">
            <a:avLst>
              <a:gd name="adj" fmla="val 13333"/>
            </a:avLst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566928" y="3374136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87552" y="33832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regressione sui test esistenti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712464"/>
            <a:ext cx="8229600" cy="365760"/>
          </a:xfrm>
          <a:prstGeom prst="roundRect">
            <a:avLst>
              <a:gd name="adj" fmla="val 15000"/>
            </a:avLst>
          </a:prstGeom>
          <a:solidFill>
            <a:srgbClr val="1F4E79"/>
          </a:solidFill>
          <a:ln w="508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Shape 27"/>
          <p:cNvSpPr/>
          <p:nvPr/>
        </p:nvSpPr>
        <p:spPr>
          <a:xfrm>
            <a:off x="566928" y="3776472"/>
            <a:ext cx="292608" cy="274320"/>
          </a:xfrm>
          <a:prstGeom prst="roundRect">
            <a:avLst>
              <a:gd name="adj" fmla="val 13333"/>
            </a:avLst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566928" y="3776472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87552" y="378561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codice è documentato con Javadoc sui metodi pubblici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4114800"/>
            <a:ext cx="8229600" cy="365760"/>
          </a:xfrm>
          <a:prstGeom prst="roundRect">
            <a:avLst>
              <a:gd name="adj" fmla="val 15000"/>
            </a:avLst>
          </a:prstGeom>
          <a:solidFill>
            <a:srgbClr val="1A3550"/>
          </a:solidFill>
          <a:ln w="508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Shape 31"/>
          <p:cNvSpPr/>
          <p:nvPr/>
        </p:nvSpPr>
        <p:spPr>
          <a:xfrm>
            <a:off x="566928" y="4178808"/>
            <a:ext cx="292608" cy="274320"/>
          </a:xfrm>
          <a:prstGeom prst="roundRect">
            <a:avLst>
              <a:gd name="adj" fmla="val 13333"/>
            </a:avLst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566928" y="4178808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87552" y="418795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Codice committato su GitHub con messaggio descrittivo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Conventions</a:t>
            </a:r>
            <a:endParaRPr lang="en-US" sz="3200" dirty="0">
              <a:solidFill>
                <a:schemeClr val="tx2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768096"/>
            <a:ext cx="41148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48640" y="1024128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11480" y="1412402"/>
            <a:ext cx="8366760" cy="1600200"/>
          </a:xfrm>
          <a:prstGeom prst="roundRect">
            <a:avLst>
              <a:gd name="adj" fmla="val 4571"/>
            </a:avLst>
          </a:prstGeom>
          <a:solidFill>
            <a:srgbClr val="172A42"/>
          </a:solidFill>
          <a:ln w="635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548640" y="1444752"/>
            <a:ext cx="2011680" cy="329184"/>
          </a:xfrm>
          <a:prstGeom prst="roundRect">
            <a:avLst>
              <a:gd name="adj" fmla="val 22222"/>
            </a:avLst>
          </a:prstGeom>
          <a:solidFill>
            <a:srgbClr val="2C5F8A"/>
          </a:solidFill>
          <a:ln w="635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685800" y="14721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Nomenclatura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842516"/>
            <a:ext cx="3931920" cy="338328"/>
          </a:xfrm>
          <a:prstGeom prst="rect">
            <a:avLst/>
          </a:prstGeom>
          <a:solidFill>
            <a:srgbClr val="1A3A5C"/>
          </a:solidFill>
          <a:ln w="381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621792" y="18973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 / Interfacce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828800" y="18973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PascalCase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880360" y="18973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D1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Track, PlaylistRepository, AddTrackCommand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09160" y="1842516"/>
            <a:ext cx="3931920" cy="338328"/>
          </a:xfrm>
          <a:prstGeom prst="rect">
            <a:avLst/>
          </a:prstGeom>
          <a:solidFill>
            <a:srgbClr val="1C3F60"/>
          </a:solidFill>
          <a:ln w="381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4782312" y="18973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Metodi / Variabili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89320" y="18973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camelCase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040880" y="18973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D1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addTrack(), getCurrentTrack(), currentIndex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" y="2226564"/>
            <a:ext cx="3931920" cy="338328"/>
          </a:xfrm>
          <a:prstGeom prst="rect">
            <a:avLst/>
          </a:prstGeom>
          <a:solidFill>
            <a:srgbClr val="1A3A5C"/>
          </a:solidFill>
          <a:ln w="381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621792" y="22814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Costanti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828800" y="22814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UPPER_SNAKE_CASE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880360" y="228142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D1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MAX_TITLE_LENGTH, MIN_YEAR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09160" y="2226564"/>
            <a:ext cx="3931920" cy="338328"/>
          </a:xfrm>
          <a:prstGeom prst="rect">
            <a:avLst/>
          </a:prstGeom>
          <a:solidFill>
            <a:srgbClr val="1C3F60"/>
          </a:solidFill>
          <a:ln w="381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4782312" y="22814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89320" y="22814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040880" y="228142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D1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com.musiclibrary.model, com.musiclibrary.controller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8640" y="2610612"/>
            <a:ext cx="3931920" cy="338328"/>
          </a:xfrm>
          <a:prstGeom prst="rect">
            <a:avLst/>
          </a:prstGeom>
          <a:solidFill>
            <a:srgbClr val="1A3A5C"/>
          </a:solidFill>
          <a:ln w="381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621792" y="26654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FXML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828800" y="26654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PascalCase + View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880360" y="266547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D1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MediaPlayerView.fxml, HomePageView.fxml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09160" y="2610612"/>
            <a:ext cx="3931920" cy="338328"/>
          </a:xfrm>
          <a:prstGeom prst="rect">
            <a:avLst/>
          </a:prstGeom>
          <a:solidFill>
            <a:srgbClr val="1C3F60"/>
          </a:solidFill>
          <a:ln w="381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4782312" y="26654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 Enum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989320" y="26654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UPPER_SNAKE_CASE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040880" y="266547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D1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FAVOURITE, EXPLICIT, NEW_RELEASE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11480" y="3186684"/>
            <a:ext cx="4160520" cy="1188720"/>
          </a:xfrm>
          <a:prstGeom prst="roundRect">
            <a:avLst>
              <a:gd name="adj" fmla="val 6154"/>
            </a:avLst>
          </a:prstGeom>
          <a:solidFill>
            <a:srgbClr val="172A42"/>
          </a:solidFill>
          <a:ln w="635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Shape 32"/>
          <p:cNvSpPr/>
          <p:nvPr/>
        </p:nvSpPr>
        <p:spPr>
          <a:xfrm>
            <a:off x="411480" y="3186684"/>
            <a:ext cx="1920240" cy="310896"/>
          </a:xfrm>
          <a:prstGeom prst="roundRect">
            <a:avLst>
              <a:gd name="adj" fmla="val 23529"/>
            </a:avLst>
          </a:prstGeom>
          <a:solidFill>
            <a:srgbClr val="2C5F8A"/>
          </a:solidFill>
          <a:ln w="635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548640" y="32141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Formattazione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356158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50" dirty="0">
                <a:solidFill>
                  <a:srgbClr val="D1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Indentazione di 4 spazi (no tab). Lunghezza massima 120 caratteri per riga. Parentesi graffe in stile K&amp;R — graffa aperta sulla stessa riga della dichiarazione. Una riga vuota tra metodi, due tra sezioni logiche.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663440" y="3186684"/>
            <a:ext cx="4160520" cy="1188720"/>
          </a:xfrm>
          <a:prstGeom prst="roundRect">
            <a:avLst>
              <a:gd name="adj" fmla="val 6154"/>
            </a:avLst>
          </a:prstGeom>
          <a:solidFill>
            <a:srgbClr val="172A42"/>
          </a:solidFill>
          <a:ln w="635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Shape 36"/>
          <p:cNvSpPr/>
          <p:nvPr/>
        </p:nvSpPr>
        <p:spPr>
          <a:xfrm>
            <a:off x="4663440" y="3186684"/>
            <a:ext cx="2148840" cy="310896"/>
          </a:xfrm>
          <a:prstGeom prst="roundRect">
            <a:avLst>
              <a:gd name="adj" fmla="val 23529"/>
            </a:avLst>
          </a:prstGeom>
          <a:solidFill>
            <a:srgbClr val="2C5F8A"/>
          </a:solidFill>
          <a:ln w="635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37"/>
          <p:cNvSpPr/>
          <p:nvPr/>
        </p:nvSpPr>
        <p:spPr>
          <a:xfrm>
            <a:off x="4800600" y="32141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Documentazione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82312" y="3634740"/>
            <a:ext cx="0" cy="137160"/>
          </a:xfrm>
          <a:prstGeom prst="line">
            <a:avLst/>
          </a:prstGeom>
          <a:noFill/>
          <a:ln w="254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1" name="Text 39"/>
          <p:cNvSpPr/>
          <p:nvPr/>
        </p:nvSpPr>
        <p:spPr>
          <a:xfrm>
            <a:off x="4937760" y="35890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D1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Ordine fisso dei membri: costanti · attributi · costruttori · metodi pubblici · metodi privati · getter/setter</a:t>
            </a:r>
            <a:endParaRPr lang="en-US" sz="880" dirty="0"/>
          </a:p>
        </p:txBody>
      </p:sp>
      <p:sp>
        <p:nvSpPr>
          <p:cNvPr id="42" name="Shape 40"/>
          <p:cNvSpPr/>
          <p:nvPr/>
        </p:nvSpPr>
        <p:spPr>
          <a:xfrm>
            <a:off x="4782312" y="3890772"/>
            <a:ext cx="0" cy="137160"/>
          </a:xfrm>
          <a:prstGeom prst="line">
            <a:avLst/>
          </a:prstGeom>
          <a:noFill/>
          <a:ln w="254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Text 41"/>
          <p:cNvSpPr/>
          <p:nvPr/>
        </p:nvSpPr>
        <p:spPr>
          <a:xfrm>
            <a:off x="4937760" y="384505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D1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Javadoc obbligatorio su tutte le interfacce e i metodi pubblici. Opzionale per metodi privati evidenti.</a:t>
            </a:r>
            <a:endParaRPr lang="en-US" sz="880" dirty="0"/>
          </a:p>
        </p:txBody>
      </p:sp>
      <p:sp>
        <p:nvSpPr>
          <p:cNvPr id="44" name="Shape 42"/>
          <p:cNvSpPr/>
          <p:nvPr/>
        </p:nvSpPr>
        <p:spPr>
          <a:xfrm>
            <a:off x="4782312" y="4146804"/>
            <a:ext cx="0" cy="137160"/>
          </a:xfrm>
          <a:prstGeom prst="line">
            <a:avLst/>
          </a:prstGeom>
          <a:noFill/>
          <a:ln w="254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5" name="Text 43"/>
          <p:cNvSpPr/>
          <p:nvPr/>
        </p:nvSpPr>
        <p:spPr>
          <a:xfrm>
            <a:off x="4937760" y="410108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D1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sempre espliciti — wildcard vietato (no java.util.*)</a:t>
            </a:r>
            <a:endParaRPr lang="en-US" sz="8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286000"/>
            <a:ext cx="4572000" cy="4572000"/>
          </a:xfrm>
          <a:prstGeom prst="ellipse">
            <a:avLst/>
          </a:prstGeom>
          <a:solidFill>
            <a:srgbClr val="1A3A5C">
              <a:alpha val="60000"/>
            </a:srgbClr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2C5F8A">
              <a:alpha val="50000"/>
            </a:srgbClr>
          </a:solidFill>
          <a:ln w="12700">
            <a:solidFill>
              <a:srgbClr val="2C5F8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86868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Grazie!</a:t>
            </a:r>
            <a:endParaRPr lang="en-US" sz="5200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3D61D110-BE52-347B-BC3D-CE7879976003}"/>
              </a:ext>
            </a:extLst>
          </p:cNvPr>
          <p:cNvSpPr txBox="1"/>
          <p:nvPr/>
        </p:nvSpPr>
        <p:spPr>
          <a:xfrm>
            <a:off x="73481" y="4406398"/>
            <a:ext cx="822960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050" b="1" dirty="0">
                <a:solidFill>
                  <a:schemeClr val="bg1"/>
                </a:solidFill>
              </a:rPr>
              <a:t>Trello </a:t>
            </a:r>
            <a:r>
              <a:rPr lang="it-IT" sz="1050" b="1" dirty="0" err="1">
                <a:solidFill>
                  <a:schemeClr val="bg1"/>
                </a:solidFill>
              </a:rPr>
              <a:t>Board:</a:t>
            </a:r>
            <a:r>
              <a:rPr lang="it-IT" sz="1050" u="sng" dirty="0" err="1">
                <a:solidFill>
                  <a:srgbClr val="467886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it-IT" sz="1050" u="sng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://trello.com/invite/b/6a2ff6b7a12185a957b4cd80/ATTIadec8b6ac10c98bebb1225d00c61f6f5ACEDC717/music-library</a:t>
            </a:r>
            <a:endParaRPr lang="it-IT" sz="1050" dirty="0">
              <a:solidFill>
                <a:schemeClr val="bg1"/>
              </a:solidFill>
            </a:endParaRPr>
          </a:p>
          <a:p>
            <a:r>
              <a:rPr lang="it-IT" sz="1050" b="1" dirty="0">
                <a:solidFill>
                  <a:schemeClr val="bg1"/>
                </a:solidFill>
              </a:rPr>
              <a:t>Product Backlog:</a:t>
            </a:r>
            <a:r>
              <a:rPr lang="it-IT" sz="1050" dirty="0">
                <a:solidFill>
                  <a:schemeClr val="bg1"/>
                </a:solidFill>
              </a:rPr>
              <a:t> </a:t>
            </a:r>
            <a:r>
              <a:rPr lang="it-IT" sz="1050" u="sng" dirty="0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https://unisalerno-my.sharepoint.com/:x:/g/personal/v_schiro_studenti_unisa_it/IQDIYXlGenepQrjHqZUlgGPdAQ7iz2ZGRn46Oq0JddvXTkg?e=gUjhOI</a:t>
            </a:r>
            <a:endParaRPr lang="it-IT" sz="10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383</TotalTime>
  <Words>805</Words>
  <Application>Microsoft Macintosh PowerPoint</Application>
  <PresentationFormat>Presentazione su schermo (16:9)</PresentationFormat>
  <Paragraphs>153</Paragraphs>
  <Slides>11</Slides>
  <Notes>11</Notes>
  <HiddenSlides>1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Music Library — Pre-Game</dc:title>
  <dc:subject>PptxGenJS Presentation</dc:subject>
  <dc:creator>PptxGenJS</dc:creator>
  <cp:lastModifiedBy>VALENTINA CARMEN SCHIRÒ</cp:lastModifiedBy>
  <cp:revision>6</cp:revision>
  <dcterms:created xsi:type="dcterms:W3CDTF">2026-06-15T21:17:16Z</dcterms:created>
  <dcterms:modified xsi:type="dcterms:W3CDTF">2026-06-16T13:30:54Z</dcterms:modified>
</cp:coreProperties>
</file>